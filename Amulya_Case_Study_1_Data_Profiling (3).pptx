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415D3D9-EF89-AE08-46EF-55E888BD95F9}">
          <p14:sldIdLst>
            <p14:sldId id="256"/>
          </p14:sldIdLst>
        </p14:section>
        <p14:section name="Approach" id="{8B688DCA-9C35-6967-47E9-E49BF0F6D873}">
          <p14:sldIdLst>
            <p14:sldId id="257"/>
            <p14:sldId id="258"/>
          </p14:sldIdLst>
        </p14:section>
        <p14:section name="Findings" id="{60855056-16BB-1780-CCBD-668A284B67B4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71AD201C-76B6-8325-3DDC-5759288068E4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30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54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Replace/add presenter name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086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Agency Performance Dataset  |  Case Study 1: Data Profiling &amp; Quality Assessment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F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086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Agency Performance Dataset  |  Case Study 1: Data Profiling &amp; Quality Assessment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F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086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Agency Performance Dataset  |  Case Study 1: Data Profiling &amp; Quality Assessment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560320"/>
            <a:ext cx="9592056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taamulyareddy/Data-Profiling-and-Quality-Assessme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"/>
          <p:cNvSpPr/>
          <p:nvPr/>
        </p:nvSpPr>
        <p:spPr>
          <a:xfrm>
            <a:off x="8138160" y="5120640"/>
            <a:ext cx="3657600" cy="3657600"/>
          </a:xfrm>
          <a:prstGeom prst="ellipse">
            <a:avLst/>
          </a:prstGeom>
          <a:solidFill>
            <a:schemeClr val="tx1">
              <a:alpha val="20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9592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3"/>
                </a:solidFill>
              </a:rPr>
              <a:t>CASE STUDY 1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56032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Data Profiling &amp; Quality Assessment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3"/>
                </a:solidFill>
              </a:rPr>
              <a:t>Agency Performance Insurance Dataset</a:t>
            </a:r>
            <a:endParaRPr lang="en-US" sz="2000" dirty="0"/>
          </a:p>
        </p:txBody>
      </p:sp>
      <p:sp>
        <p:nvSpPr>
          <p:cNvPr id="6" name="Prepared by"/>
          <p:cNvSpPr txBox="1"/>
          <p:nvPr/>
        </p:nvSpPr>
        <p:spPr>
          <a:xfrm>
            <a:off x="548640" y="6629400"/>
            <a:ext cx="9592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Prepared by Kota Amulya Reddy</a:t>
            </a:r>
            <a:endParaRPr lang="en-US" sz="1600" dirty="0"/>
          </a:p>
        </p:txBody>
      </p:sp>
      <p:sp>
        <p:nvSpPr>
          <p:cNvPr id="7" name="GitHub link">
            <a:hlinkClick r:id="rId3" tooltip="Open GitHub repository"/>
          </p:cNvPr>
          <p:cNvSpPr txBox="1"/>
          <p:nvPr/>
        </p:nvSpPr>
        <p:spPr>
          <a:xfrm>
            <a:off x="548291" y="379476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chemeClr val="accent3"/>
                </a:solidFill>
                <a:hlinkClick r:id="rId3" tooltip="Open GitHub reposit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https://github.com/kotaamulyareddy/Data-Profiling-and-Quality-Assessment</a:t>
            </a:r>
            <a:endParaRPr lang="en-US" sz="1400" dirty="0"/>
          </a:p>
        </p:txBody>
      </p:sp>
      <p:sp>
        <p:nvSpPr>
          <p:cNvPr id="8" name="Stat strip"/>
          <p:cNvSpPr/>
          <p:nvPr/>
        </p:nvSpPr>
        <p:spPr>
          <a:xfrm>
            <a:off x="548640" y="4800600"/>
            <a:ext cx="8220456" cy="822960"/>
          </a:xfrm>
          <a:prstGeom prst="rect">
            <a:avLst/>
          </a:prstGeom>
          <a:solidFill>
            <a:schemeClr val="tx1">
              <a:alpha val="3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00600"/>
            <a:ext cx="7671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213,328 rows</a:t>
            </a:r>
            <a:r>
              <a:rPr lang="en-US" sz="1600" dirty="0">
                <a:solidFill>
                  <a:schemeClr val="bg1"/>
                </a:solidFill>
              </a:rPr>
              <a:t> across </a:t>
            </a:r>
            <a:r>
              <a:rPr lang="en-US" sz="1600" b="1" dirty="0">
                <a:solidFill>
                  <a:schemeClr val="bg1"/>
                </a:solidFill>
              </a:rPr>
              <a:t>49 columns</a:t>
            </a:r>
            <a:r>
              <a:rPr lang="en-US" sz="1600" dirty="0">
                <a:solidFill>
                  <a:schemeClr val="bg1"/>
                </a:solidFill>
              </a:rPr>
              <a:t>   |   </a:t>
            </a:r>
            <a:r>
              <a:rPr lang="en-US" sz="1600" b="1" dirty="0">
                <a:solidFill>
                  <a:schemeClr val="bg1"/>
                </a:solidFill>
              </a:rPr>
              <a:t>36 columns</a:t>
            </a:r>
            <a:r>
              <a:rPr lang="en-US" sz="1600" dirty="0">
                <a:solidFill>
                  <a:schemeClr val="bg1"/>
                </a:solidFill>
              </a:rPr>
              <a:t> contain a hidden 99999 sentinel value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OBJECTIVE &amp; APPROACH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Understanding the Dataset Before Any Analysis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548640" y="2011680"/>
            <a:ext cx="2192274" cy="4206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tep badge 1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1643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Validate Schema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164363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Check shape, dtypes and column names, then split numeric and categorical fields. No column is assumed.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3015234" y="2011680"/>
            <a:ext cx="2192274" cy="4206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Step badge 2"/>
          <p:cNvSpPr/>
          <p:nvPr/>
        </p:nvSpPr>
        <p:spPr>
          <a:xfrm>
            <a:off x="3289554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8955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89554" y="3063240"/>
            <a:ext cx="1643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Data Dictionary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289554" y="3931920"/>
            <a:ext cx="164363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Record dtype, missing count and %, and unique values for every column in one table.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5481828" y="2011680"/>
            <a:ext cx="2192274" cy="4206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Step badge 3"/>
          <p:cNvSpPr/>
          <p:nvPr/>
        </p:nvSpPr>
        <p:spPr>
          <a:xfrm>
            <a:off x="5756148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5614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756148" y="3063240"/>
            <a:ext cx="1643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Hidden Missingness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56148" y="3931920"/>
            <a:ext cx="164363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Find the 99999 placeholder code that standard null checks cannot see, then convert it to NaN.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7948422" y="2011680"/>
            <a:ext cx="2192274" cy="4206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tep badge 4"/>
          <p:cNvSpPr/>
          <p:nvPr/>
        </p:nvSpPr>
        <p:spPr>
          <a:xfrm>
            <a:off x="8222742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274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2742" y="3063240"/>
            <a:ext cx="1643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Check Integrity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2742" y="3931920"/>
            <a:ext cx="164363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Check duplicates, standardize categorical text, and review distributions, outliers, negatives and zeros.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SCHEMA DISCOVERY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 Structure at a Glance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548640" y="1920240"/>
            <a:ext cx="3014472" cy="1737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213,328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Total Rows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837432" y="1920240"/>
            <a:ext cx="3014472" cy="1737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37432" y="219456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837432" y="301752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Total Columns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7126224" y="1920240"/>
            <a:ext cx="3014472" cy="1737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26224" y="219456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126224" y="301752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Numeric Fields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548640" y="3931920"/>
            <a:ext cx="3014472" cy="1737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0624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Categorical Fields</a:t>
            </a:r>
            <a:endParaRPr lang="en-US" sz="1400" dirty="0"/>
          </a:p>
        </p:txBody>
      </p:sp>
      <p:sp>
        <p:nvSpPr>
          <p:cNvPr id="16" name="Stat card 5"/>
          <p:cNvSpPr/>
          <p:nvPr/>
        </p:nvSpPr>
        <p:spPr>
          <a:xfrm>
            <a:off x="3837432" y="3931920"/>
            <a:ext cx="3014472" cy="1737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37432" y="420624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3837432" y="502920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Columns with 99999</a:t>
            </a:r>
            <a:endParaRPr lang="en-US" sz="1400" dirty="0"/>
          </a:p>
        </p:txBody>
      </p:sp>
      <p:sp>
        <p:nvSpPr>
          <p:cNvPr id="19" name="Stat card 6"/>
          <p:cNvSpPr/>
          <p:nvPr/>
        </p:nvSpPr>
        <p:spPr>
          <a:xfrm>
            <a:off x="7126224" y="3931920"/>
            <a:ext cx="3014472" cy="1737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26224" y="420624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2,929,965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7126224" y="502920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Missing Values After Cleanup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3504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data covers 1,623 agencies across 11 profile years and 6 states (IN, KY, MI, OH, PA, WV). The schema spans premium and loss amounts, retention and growth ratios, producer counts, and quote and bind activity from vendor systems.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KEY FINDING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The 99999 Sentinel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Missing or not-applicable values are stored as the number 99999. The standard null check reports 0 missing values, while the true count after conversion is 2,929,965.</a:t>
            </a:r>
            <a:endParaRPr lang="en-US" sz="1600" dirty="0"/>
          </a:p>
        </p:txBody>
      </p:sp>
      <p:sp>
        <p:nvSpPr>
          <p:cNvPr id="5" name="Where card"/>
          <p:cNvSpPr/>
          <p:nvPr/>
        </p:nvSpPr>
        <p:spPr>
          <a:xfrm>
            <a:off x="548640" y="2468880"/>
            <a:ext cx="4658868" cy="411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4110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appears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1102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Period fields: ACTIVITY_NOTES_END_YEAR (209,258 rows), PL_END_YEAR (209,174), COMMISIONS_END_YEAR (205,604)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Ratios: RETENTION_RATIO (129,978), GROWTH_RATE_3YR (91,067), LOSS_RATIO (51,232)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Vendor counts: 6 CL_* columns (98,689 each) and 10 PL_* columns (57,444 each)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Identifiers and agency fields: PRIMARY_AGENCY_ID (37,874), MAX_AGE and MIN_AGE (5,639)</a:t>
            </a:r>
            <a:endParaRPr lang="en-US" sz="1400" dirty="0"/>
          </a:p>
        </p:txBody>
      </p:sp>
      <p:sp>
        <p:nvSpPr>
          <p:cNvPr id="8" name="Why card"/>
          <p:cNvSpPr/>
          <p:nvPr/>
        </p:nvSpPr>
        <p:spPr>
          <a:xfrm>
            <a:off x="5481828" y="2468880"/>
            <a:ext cx="4658868" cy="4114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56148" y="2651760"/>
            <a:ext cx="4110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756148" y="3200400"/>
            <a:ext cx="41102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Averages and totals computed before cleanup are badly wrong, since 99999 dwarfs real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Null checks show 0 missing values until 99999 is replaced, so the true gaps stay hidden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Year fields such as PL_START_YEAR would produce nonsensical date ranges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MISSING VALUE ANALYSIS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the Gaps Are Concentrated</a:t>
            </a:r>
            <a:endParaRPr lang="en-US" sz="3000" dirty="0"/>
          </a:p>
        </p:txBody>
      </p:sp>
      <p:pic>
        <p:nvPicPr>
          <p:cNvPr id="4" name="Missing bar chart" descr="Bar chart of missing percentage by column after 99999 replaced with N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760720" cy="28584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377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Period-end fields and vendor activity counts dominate the gaps. Identity, premium and product fields are fully populated.</a:t>
            </a:r>
            <a:endParaRPr lang="en-US" sz="1400" dirty="0"/>
          </a:p>
        </p:txBody>
      </p:sp>
      <p:sp>
        <p:nvSpPr>
          <p:cNvPr id="6" name="Risk panel"/>
          <p:cNvSpPr/>
          <p:nvPr/>
        </p:nvSpPr>
        <p:spPr>
          <a:xfrm>
            <a:off x="6537960" y="1828800"/>
            <a:ext cx="3602736" cy="5029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20116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 fields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560320"/>
            <a:ext cx="31455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ACTIVITY_NOTES_END_YEAR: 98.1%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PL_END_YEAR: 98.1%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COMMISIONS_END_YEAR: 96.4%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CL_END_YEAR: 96.0%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RETENTION_RATIO: 60.9%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16 columns exceed 30% missing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59436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Missing % computed after converting 99999 to NaN.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MISSING VALUE ANALYSIS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 Structural, Not Random, Pattern</a:t>
            </a:r>
            <a:endParaRPr lang="en-US" sz="3000" dirty="0"/>
          </a:p>
        </p:txBody>
      </p:sp>
      <p:pic>
        <p:nvPicPr>
          <p:cNvPr id="4" name="Missing heatmap" descr="Missing value heatmap: light cells mark missing values, concentrated in vendor and commission-period colum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1828800"/>
            <a:ext cx="8229600" cy="40837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264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Light cells are missing values. The gaps cluster by column group: period fields and vendor activity counts are empty together, rather than scattered at random.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DATA INTEGRITY CHECKS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Duplicates, Negatives and Zero Values</a:t>
            </a:r>
            <a:endParaRPr lang="en-US" sz="3000" dirty="0"/>
          </a:p>
        </p:txBody>
      </p:sp>
      <p:sp>
        <p:nvSpPr>
          <p:cNvPr id="4" name="Check card 1"/>
          <p:cNvSpPr/>
          <p:nvPr/>
        </p:nvSpPr>
        <p:spPr>
          <a:xfrm>
            <a:off x="548640" y="1828800"/>
            <a:ext cx="3014472" cy="4937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465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465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Full-row duplicate check after sentinel cleanup.</a:t>
            </a:r>
            <a:endParaRPr lang="en-US" sz="1400" dirty="0"/>
          </a:p>
        </p:txBody>
      </p:sp>
      <p:sp>
        <p:nvSpPr>
          <p:cNvPr id="7" name="Result box 1"/>
          <p:cNvSpPr/>
          <p:nvPr/>
        </p:nvSpPr>
        <p:spPr>
          <a:xfrm>
            <a:off x="822960" y="3611880"/>
            <a:ext cx="2465832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2465832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(0.0%)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2465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No duplicates found across 213,328 rows, so no records need removal.</a:t>
            </a:r>
            <a:endParaRPr lang="en-US" sz="1400" dirty="0"/>
          </a:p>
        </p:txBody>
      </p:sp>
      <p:sp>
        <p:nvSpPr>
          <p:cNvPr id="10" name="Check card 2"/>
          <p:cNvSpPr/>
          <p:nvPr/>
        </p:nvSpPr>
        <p:spPr>
          <a:xfrm>
            <a:off x="3837432" y="1828800"/>
            <a:ext cx="3014472" cy="4937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1752" y="2011680"/>
            <a:ext cx="2465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WRTN_PREM_AMT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11752" y="2788920"/>
            <a:ext cx="2465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Rows with written premium below zero.</a:t>
            </a:r>
            <a:endParaRPr lang="en-US" sz="1400" dirty="0"/>
          </a:p>
        </p:txBody>
      </p:sp>
      <p:sp>
        <p:nvSpPr>
          <p:cNvPr id="13" name="Result box 2"/>
          <p:cNvSpPr/>
          <p:nvPr/>
        </p:nvSpPr>
        <p:spPr>
          <a:xfrm>
            <a:off x="4111752" y="3611880"/>
            <a:ext cx="2465832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1752" y="3611880"/>
            <a:ext cx="2465832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4,796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111752" y="4846320"/>
            <a:ext cx="2465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About 2.2% of rows, down to -$202,778. Likely refunds, cancellations or adjustments. Validate with the business.</a:t>
            </a:r>
            <a:endParaRPr lang="en-US" sz="1400" dirty="0"/>
          </a:p>
        </p:txBody>
      </p:sp>
      <p:sp>
        <p:nvSpPr>
          <p:cNvPr id="16" name="Check card 3"/>
          <p:cNvSpPr/>
          <p:nvPr/>
        </p:nvSpPr>
        <p:spPr>
          <a:xfrm>
            <a:off x="7126224" y="1828800"/>
            <a:ext cx="3014472" cy="4937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0544" y="2011680"/>
            <a:ext cx="2465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Zero-heavy columns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00544" y="2788920"/>
            <a:ext cx="2465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Top numeric column by count of exact zeros.</a:t>
            </a:r>
            <a:endParaRPr lang="en-US" sz="1400" dirty="0"/>
          </a:p>
        </p:txBody>
      </p:sp>
      <p:sp>
        <p:nvSpPr>
          <p:cNvPr id="19" name="Result box 3"/>
          <p:cNvSpPr/>
          <p:nvPr/>
        </p:nvSpPr>
        <p:spPr>
          <a:xfrm>
            <a:off x="7400544" y="3611880"/>
            <a:ext cx="2465832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00544" y="3611880"/>
            <a:ext cx="2465832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157,684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400544" y="4846320"/>
            <a:ext cx="2465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PRD_INCRD_LOSSES_AMT (73.9% of rows). Next: PL_BOUND_CT_TRANSACTNOW 153,886 and PL_QUO_CT_TRANSACTNOW 151,070.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CATEGORICAL DATA CLEANING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Standardizing Text to Prevent Split Groups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9592056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Before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After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Change after strip + upper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PROD_ABBR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None. Codes such as ANNIV and ANNIV 12 remain separate.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PROD_LINE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STATE_ABBR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VENDOR_IND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VENDOR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'Unknown' became 'UNKNOWN'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37760"/>
            <a:ext cx="9592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Unique values shown are from the first 20 values printed per column. Cleaning with .str.strip() and .str.upper() changed only the VENDOR casing, so the categorical fields were already largely consistent.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5216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Worth validating: MOTORHOM12 vs MOTORHOME and ANNIV vs ANNIV 12 may be distinct product codes or near-duplicates.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NUMERIC DISTRIBUTION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Written Premium Is Heavily Right-Skewed</a:t>
            </a:r>
            <a:endParaRPr lang="en-US" sz="3000" dirty="0"/>
          </a:p>
        </p:txBody>
      </p:sp>
      <p:pic>
        <p:nvPicPr>
          <p:cNvPr id="4" name="Premium histogram" descr="Histogram of WRTN_PREM_AMT showing heavy right sk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4663440" cy="2779776"/>
          </a:xfrm>
          <a:prstGeom prst="rect">
            <a:avLst/>
          </a:prstGeom>
        </p:spPr>
      </p:pic>
      <p:pic>
        <p:nvPicPr>
          <p:cNvPr id="5" name="Premium boxplot" descr="Boxplot of WRTN_PREM_AMT with many high outli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1783080"/>
            <a:ext cx="4663440" cy="1828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77256" y="3749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box is squeezed near zero while outliers stretch to about $1.7M.</a:t>
            </a:r>
            <a:endParaRPr lang="en-US" sz="1400" dirty="0"/>
          </a:p>
        </p:txBody>
      </p:sp>
      <p:sp>
        <p:nvSpPr>
          <p:cNvPr id="7" name="Stat card 1"/>
          <p:cNvSpPr/>
          <p:nvPr/>
        </p:nvSpPr>
        <p:spPr>
          <a:xfrm>
            <a:off x="548640" y="4846320"/>
            <a:ext cx="3014472" cy="1828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502920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$19.6K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89788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Mean written premium</a:t>
            </a:r>
            <a:endParaRPr lang="en-US" sz="1400" dirty="0"/>
          </a:p>
        </p:txBody>
      </p:sp>
      <p:sp>
        <p:nvSpPr>
          <p:cNvPr id="10" name="Stat card 2"/>
          <p:cNvSpPr/>
          <p:nvPr/>
        </p:nvSpPr>
        <p:spPr>
          <a:xfrm>
            <a:off x="3837432" y="4846320"/>
            <a:ext cx="3014472" cy="1828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837432" y="5029200"/>
            <a:ext cx="301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3837432" y="589788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Median written premium</a:t>
            </a:r>
            <a:endParaRPr lang="en-US" sz="1400" dirty="0"/>
          </a:p>
        </p:txBody>
      </p:sp>
      <p:sp>
        <p:nvSpPr>
          <p:cNvPr id="13" name="Implication card"/>
          <p:cNvSpPr/>
          <p:nvPr/>
        </p:nvSpPr>
        <p:spPr>
          <a:xfrm>
            <a:off x="7126224" y="4846320"/>
            <a:ext cx="3014472" cy="1828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54824" y="4983480"/>
            <a:ext cx="2557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Mean is about 17x the median. </a:t>
            </a:r>
            <a:r>
              <a:rPr lang="en-US" sz="1400" dirty="0">
                <a:solidFill>
                  <a:schemeClr val="accent4"/>
                </a:solidFill>
              </a:rPr>
              <a:t>Use medians, log scales or trimmed views. A simple mean is dominated by very large policies.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DATA DICTIONARY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Highest-Risk Columns by Missingness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9592056" cy="4425696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Raw dtype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Missing (99999) count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Missing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ACTIVITY_NOTES_END_YEAR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209,258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98.09%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PL_END_YEAR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209,174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98.05%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COMMISIONS_END_YEAR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205,604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96.38%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CL_END_YEAR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204,760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95.98%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ACTIVITY_NOTES_START_YEAR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171,536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80.41%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COMMISIONS_START_YEAR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141,937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66.53%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RETENTION_RATIO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float64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129,978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60.93%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CL_START_YEAR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129,311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60.62%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GROWTH_RATE_3YR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float64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91,067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42.69%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PRIMARY_AGENCY_ID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37,874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17.75%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9592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Raw counts show 0 nulls for every column. All figures here are true missingness after replacing 99999 with NaN. 16 of 49 columns exceed 30% missing.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RISK SUMMARY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Key Data Quality Risks</a:t>
            </a:r>
            <a:endParaRPr lang="en-US" sz="3000" dirty="0"/>
          </a:p>
        </p:txBody>
      </p:sp>
      <p:sp>
        <p:nvSpPr>
          <p:cNvPr id="4" name="Risk card 1"/>
          <p:cNvSpPr/>
          <p:nvPr/>
        </p:nvSpPr>
        <p:spPr>
          <a:xfrm>
            <a:off x="548640" y="1828800"/>
            <a:ext cx="4658868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Risk badge 1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3561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missing values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3561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36 of 49 columns use 99999. Null checks show 0 missing, but the true count is 2,929,965.</a:t>
            </a:r>
            <a:endParaRPr lang="en-US" sz="1400" dirty="0"/>
          </a:p>
        </p:txBody>
      </p:sp>
      <p:sp>
        <p:nvSpPr>
          <p:cNvPr id="9" name="Risk card 2"/>
          <p:cNvSpPr/>
          <p:nvPr/>
        </p:nvSpPr>
        <p:spPr>
          <a:xfrm>
            <a:off x="5481828" y="1828800"/>
            <a:ext cx="4658868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Risk badge 2"/>
          <p:cNvSpPr/>
          <p:nvPr/>
        </p:nvSpPr>
        <p:spPr>
          <a:xfrm>
            <a:off x="5710428" y="21031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042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96228" y="1965960"/>
            <a:ext cx="3561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missing data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96228" y="2377440"/>
            <a:ext cx="3561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16 columns exceed 30% missing. Period-end and vendor fields are empty together, by source.</a:t>
            </a:r>
            <a:endParaRPr lang="en-US" sz="1400" dirty="0"/>
          </a:p>
        </p:txBody>
      </p:sp>
      <p:sp>
        <p:nvSpPr>
          <p:cNvPr id="14" name="Risk card 3"/>
          <p:cNvSpPr/>
          <p:nvPr/>
        </p:nvSpPr>
        <p:spPr>
          <a:xfrm>
            <a:off x="548640" y="3520440"/>
            <a:ext cx="4658868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Risk badge 3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657600"/>
            <a:ext cx="3561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069080"/>
            <a:ext cx="3561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None found: 0 of 213,328 rows. Full-row duplicates should still be rechecked on each refresh.</a:t>
            </a:r>
            <a:endParaRPr lang="en-US" sz="1400" dirty="0"/>
          </a:p>
        </p:txBody>
      </p:sp>
      <p:sp>
        <p:nvSpPr>
          <p:cNvPr id="19" name="Risk card 4"/>
          <p:cNvSpPr/>
          <p:nvPr/>
        </p:nvSpPr>
        <p:spPr>
          <a:xfrm>
            <a:off x="5481828" y="3520440"/>
            <a:ext cx="4658868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Risk badge 4"/>
          <p:cNvSpPr/>
          <p:nvPr/>
        </p:nvSpPr>
        <p:spPr>
          <a:xfrm>
            <a:off x="5710428" y="3794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1042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96228" y="3657600"/>
            <a:ext cx="3561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and extreme values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96228" y="4069080"/>
            <a:ext cx="3561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Mean premium $19.6K vs median $1.1K. Outliers reach about $1.7M and distort averages.</a:t>
            </a:r>
            <a:endParaRPr lang="en-US" sz="1400" dirty="0"/>
          </a:p>
        </p:txBody>
      </p:sp>
      <p:sp>
        <p:nvSpPr>
          <p:cNvPr id="24" name="Risk card 5"/>
          <p:cNvSpPr/>
          <p:nvPr/>
        </p:nvSpPr>
        <p:spPr>
          <a:xfrm>
            <a:off x="548640" y="5212080"/>
            <a:ext cx="4658868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Risk badge 5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349240"/>
            <a:ext cx="3561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premiums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760720"/>
            <a:ext cx="3561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4,796 rows (about 2.2%) are negative. May be refunds or adjustments. Confirm with the business.</a:t>
            </a:r>
            <a:endParaRPr lang="en-US" sz="1400" dirty="0"/>
          </a:p>
        </p:txBody>
      </p:sp>
      <p:sp>
        <p:nvSpPr>
          <p:cNvPr id="29" name="Risk card 6"/>
          <p:cNvSpPr/>
          <p:nvPr/>
        </p:nvSpPr>
        <p:spPr>
          <a:xfrm>
            <a:off x="5481828" y="5212080"/>
            <a:ext cx="4658868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Risk badge 6"/>
          <p:cNvSpPr/>
          <p:nvPr/>
        </p:nvSpPr>
        <p:spPr>
          <a:xfrm>
            <a:off x="5710428" y="5486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710428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96228" y="5349240"/>
            <a:ext cx="3561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Zero-heavy variables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96228" y="5760720"/>
            <a:ext cx="35615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PRD_INCRD_LOSSES_AMT is zero in 157,684 rows. Zero is often valid, not missing.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CONCLUSIONS &amp; NEXT STEPS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9592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The Dataset Is Usable, With Guardrails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95920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Schema was validated, not assumed: 49 columns profiled across 213,328 rows.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99999 sentinel was the most consequential finding: 36 columns, and 2,929,965 hidden missing values.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duplicates were found, and categorical text was standardized (only VENDOR casing changed).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16 columns exceed 30% missing, led by period-end and vendor fields.</a:t>
            </a:r>
            <a:endParaRPr lang="en-US" sz="1600" dirty="0"/>
          </a:p>
        </p:txBody>
      </p:sp>
      <p:sp>
        <p:nvSpPr>
          <p:cNvPr id="5" name="Next steps panel"/>
          <p:cNvSpPr/>
          <p:nvPr/>
        </p:nvSpPr>
        <p:spPr>
          <a:xfrm>
            <a:off x="548640" y="4572000"/>
            <a:ext cx="9592056" cy="2148840"/>
          </a:xfrm>
          <a:prstGeom prst="rect">
            <a:avLst/>
          </a:prstGeom>
          <a:solidFill>
            <a:schemeClr val="tx1">
              <a:alpha val="30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709160"/>
            <a:ext cx="9043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Recommended next steps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9043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Set an impute-vs-drop policy for columns above the 30% missing threshold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Validate negative premiums and zero-heavy fields with business stakeholders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Review the product codes ANNIV vs ANNIV 12 and MOTORHOM12 vs MOTORHOME before grouping by product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86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cy Case Study">
  <a:themeElements>
    <a:clrScheme name="Agency Case Study">
      <a:dk1>
        <a:srgbClr val="0F172A"/>
      </a:dk1>
      <a:lt1>
        <a:srgbClr val="FFFFFF"/>
      </a:lt1>
      <a:dk2>
        <a:srgbClr val="2F3A44"/>
      </a:dk2>
      <a:lt2>
        <a:srgbClr val="F4F5F6"/>
      </a:lt2>
      <a:accent1>
        <a:srgbClr val="2F3A44"/>
      </a:accent1>
      <a:accent2>
        <a:srgbClr val="B85042"/>
      </a:accent2>
      <a:accent3>
        <a:srgbClr val="D5DADF"/>
      </a:accent3>
      <a:accent4>
        <a:srgbClr val="475569"/>
      </a:accent4>
      <a:accent5>
        <a:srgbClr val="9AA5B1"/>
      </a:accent5>
      <a:accent6>
        <a:srgbClr val="E2E8F0"/>
      </a:accent6>
      <a:hlink>
        <a:srgbClr val="D5DADF"/>
      </a:hlink>
      <a:folHlink>
        <a:srgbClr val="475569"/>
      </a:folHlink>
    </a:clrScheme>
    <a:fontScheme name="Agency Case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1248</Words>
  <Application>Microsoft Office PowerPoint</Application>
  <PresentationFormat>Custom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Agency Case Study</vt:lpstr>
      <vt:lpstr>Data Profiling &amp; Quality Assessment</vt:lpstr>
      <vt:lpstr>Understanding the Dataset Before Any Analysis</vt:lpstr>
      <vt:lpstr>Dataset Structure at a Glance</vt:lpstr>
      <vt:lpstr>The 99999 Sentinel Problem</vt:lpstr>
      <vt:lpstr>Where the Gaps Are Concentrated</vt:lpstr>
      <vt:lpstr>A Structural, Not Random, Pattern</vt:lpstr>
      <vt:lpstr>Duplicates, Negatives and Zero Values</vt:lpstr>
      <vt:lpstr>Standardizing Text to Prevent Split Groups</vt:lpstr>
      <vt:lpstr>Written Premium Is Heavily Right-Skewed</vt:lpstr>
      <vt:lpstr>Highest-Risk Columns by Missingness</vt:lpstr>
      <vt:lpstr>Key Data Quality Risks</vt:lpstr>
      <vt:lpstr>The Dataset Is Usable, With Guardrails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1: Data Profiling &amp; Quality Assessment</dc:title>
  <dc:subject>PptxGenJS Presentation</dc:subject>
  <dc:creator>PptxGenJS</dc:creator>
  <cp:lastModifiedBy>Kota Amulya Reddy</cp:lastModifiedBy>
  <cp:revision>2</cp:revision>
  <dcterms:created xsi:type="dcterms:W3CDTF">2026-10-03T06:10:01Z</dcterms:created>
  <dcterms:modified xsi:type="dcterms:W3CDTF">2026-10-03T06:13:31Z</dcterms:modified>
</cp:coreProperties>
</file>