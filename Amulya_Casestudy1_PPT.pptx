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se Study" id="{19420011-3109-fbfe-c4eb-d85131755c5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Replace/add presenter name if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EE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Agency Performance Insurance Dataset   |   Case Study 1: Data Profiling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Agency Performance Insurance Dataset   |   Case Study 1: Data Profiling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f"/>
          <p:cNvSpPr txBox="1"/>
          <p:nvPr/>
        </p:nvSpPr>
        <p:spPr>
          <a:xfrm>
            <a:off x="8321040" y="6400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chemeClr val="accent1">
                    <a:alpha val="2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99999</a:t>
            </a:r>
            <a:endParaRPr lang="en-US" sz="8000" dirty="0"/>
          </a:p>
        </p:txBody>
      </p:sp>
      <p:sp>
        <p:nvSpPr>
          <p:cNvPr id="4" name="Decor circle"/>
          <p:cNvSpPr/>
          <p:nvPr/>
        </p:nvSpPr>
        <p:spPr>
          <a:xfrm>
            <a:off x="8778240" y="3566160"/>
            <a:ext cx="4754880" cy="475488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5" name="Decor circle 2"/>
          <p:cNvSpPr/>
          <p:nvPr/>
        </p:nvSpPr>
        <p:spPr>
          <a:xfrm>
            <a:off x="9966960" y="4846320"/>
            <a:ext cx="2926080" cy="2926080"/>
          </a:xfrm>
          <a:prstGeom prst="ellipse">
            <a:avLst/>
          </a:prstGeom>
          <a:solidFill>
            <a:schemeClr val="accent2">
              <a:alpha val="15000"/>
            </a:schemeClr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2"/>
                </a:solidFill>
              </a:rPr>
              <a:t>CASE STUDY 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82880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Profiling &amp; Quality Assessment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657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accent5"/>
                </a:solidFill>
              </a:rPr>
              <a:t>Agency Performance Insurance Dataset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160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https://github.com/kotaamulyareddy/Data-Profiling-and-Quality-Assessment</a:t>
            </a:r>
            <a:endParaRPr lang="en-US" sz="1300" dirty="0"/>
          </a:p>
        </p:txBody>
      </p:sp>
      <p:sp>
        <p:nvSpPr>
          <p:cNvPr id="10" name="Stat strip"/>
          <p:cNvSpPr/>
          <p:nvPr/>
        </p:nvSpPr>
        <p:spPr>
          <a:xfrm>
            <a:off x="731520" y="4800600"/>
            <a:ext cx="7680960" cy="685800"/>
          </a:xfrm>
          <a:prstGeom prst="roundRect">
            <a:avLst>
              <a:gd name="adj" fmla="val 16000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480060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213,328 rows across 49 columns   |   36 columns contain a hidden 99999 sentinel value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Prepared by Kota Amulya Reddy</a:t>
            </a:r>
            <a:endParaRPr lang="en-US" sz="1400" dirty="0"/>
          </a:p>
        </p:txBody>
      </p:sp>
      <p:sp>
        <p:nvSpPr>
          <p:cNvPr id="13" name="Text 1"/>
          <p:cNvSpPr/>
          <p:nvPr>
            <p:ph idx="101" type="title" hasCustomPrompt="1"/>
          </p:nvPr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</a:rPr>
              <a:t>OBJECTIVE &amp; APPROACH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Understanding the Dataset Before Any Analysis</a:t>
            </a:r>
            <a:endParaRPr lang="en-US" sz="3400" dirty="0"/>
          </a:p>
        </p:txBody>
      </p:sp>
      <p:sp>
        <p:nvSpPr>
          <p:cNvPr id="4" name="Step card"/>
          <p:cNvSpPr/>
          <p:nvPr/>
        </p:nvSpPr>
        <p:spPr>
          <a:xfrm>
            <a:off x="548640" y="1783080"/>
            <a:ext cx="2606040" cy="411480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B1F2A">
                <a:alpha val="12000"/>
              </a:srgbClr>
            </a:outerShdw>
          </a:effectLst>
        </p:spPr>
      </p:sp>
      <p:sp>
        <p:nvSpPr>
          <p:cNvPr id="5" name="Number badge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&amp; Validate Schema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4048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Check shape, dtypes and column names, then split numeric and categorical fields. No column is assumed.</a:t>
            </a:r>
            <a:endParaRPr lang="en-US" sz="1400" dirty="0"/>
          </a:p>
        </p:txBody>
      </p:sp>
      <p:sp>
        <p:nvSpPr>
          <p:cNvPr id="9" name="Step card"/>
          <p:cNvSpPr/>
          <p:nvPr/>
        </p:nvSpPr>
        <p:spPr>
          <a:xfrm>
            <a:off x="3364992" y="1783080"/>
            <a:ext cx="2606040" cy="411480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B1F2A">
                <a:alpha val="12000"/>
              </a:srgbClr>
            </a:outerShdw>
          </a:effectLst>
        </p:spPr>
      </p:sp>
      <p:sp>
        <p:nvSpPr>
          <p:cNvPr id="10" name="Number badge"/>
          <p:cNvSpPr/>
          <p:nvPr/>
        </p:nvSpPr>
        <p:spPr>
          <a:xfrm>
            <a:off x="3639312" y="21031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39312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39312" y="30175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Data Dictionary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639312" y="384048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Record dtype, missing count and %, and unique values for every column in one table.</a:t>
            </a:r>
            <a:endParaRPr lang="en-US" sz="1400" dirty="0"/>
          </a:p>
        </p:txBody>
      </p:sp>
      <p:sp>
        <p:nvSpPr>
          <p:cNvPr id="14" name="Step card"/>
          <p:cNvSpPr/>
          <p:nvPr/>
        </p:nvSpPr>
        <p:spPr>
          <a:xfrm>
            <a:off x="6181344" y="1783080"/>
            <a:ext cx="2606040" cy="411480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B1F2A">
                <a:alpha val="12000"/>
              </a:srgbClr>
            </a:outerShdw>
          </a:effectLst>
        </p:spPr>
      </p:sp>
      <p:sp>
        <p:nvSpPr>
          <p:cNvPr id="15" name="Number badge"/>
          <p:cNvSpPr/>
          <p:nvPr/>
        </p:nvSpPr>
        <p:spPr>
          <a:xfrm>
            <a:off x="6455664" y="210312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55664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55664" y="30175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Hidden Missingness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455664" y="384048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Find the 99999 placeholder code that standard null checks cannot see, then convert it to NaN.</a:t>
            </a:r>
            <a:endParaRPr lang="en-US" sz="1400" dirty="0"/>
          </a:p>
        </p:txBody>
      </p:sp>
      <p:sp>
        <p:nvSpPr>
          <p:cNvPr id="19" name="Step card"/>
          <p:cNvSpPr/>
          <p:nvPr/>
        </p:nvSpPr>
        <p:spPr>
          <a:xfrm>
            <a:off x="8997696" y="1783080"/>
            <a:ext cx="2606040" cy="411480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B1F2A">
                <a:alpha val="12000"/>
              </a:srgbClr>
            </a:outerShdw>
          </a:effectLst>
        </p:spPr>
      </p:sp>
      <p:sp>
        <p:nvSpPr>
          <p:cNvPr id="20" name="Number badge"/>
          <p:cNvSpPr/>
          <p:nvPr/>
        </p:nvSpPr>
        <p:spPr>
          <a:xfrm>
            <a:off x="9272016" y="21031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72016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272016" y="30175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 Check Integrity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272016" y="384048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Check duplicates, standardize categorical text, and review distributions, outliers, negatives and zeros.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</a:rPr>
              <a:t>SCHEMA DISCOVERY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Dataset Structure at a Glance</a:t>
            </a:r>
            <a:endParaRPr lang="en-US" sz="3400" dirty="0"/>
          </a:p>
        </p:txBody>
      </p:sp>
      <p:sp>
        <p:nvSpPr>
          <p:cNvPr id="4" name="Stat card"/>
          <p:cNvSpPr/>
          <p:nvPr/>
        </p:nvSpPr>
        <p:spPr>
          <a:xfrm>
            <a:off x="548640" y="169164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tx1"/>
          </a:solidFill>
          <a:ln w="12700">
            <a:solidFill>
              <a:schemeClr val="tx1">
                <a:alpha val="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B1F2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213,328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Total Rows</a:t>
            </a:r>
            <a:endParaRPr lang="en-US" sz="1400" dirty="0"/>
          </a:p>
        </p:txBody>
      </p:sp>
      <p:sp>
        <p:nvSpPr>
          <p:cNvPr id="7" name="Stat card"/>
          <p:cNvSpPr/>
          <p:nvPr/>
        </p:nvSpPr>
        <p:spPr>
          <a:xfrm>
            <a:off x="4297680" y="169164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tx1"/>
          </a:solidFill>
          <a:ln w="12700">
            <a:solidFill>
              <a:schemeClr val="tx1">
                <a:alpha val="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B1F2A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297680" y="18745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2743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Total Columns</a:t>
            </a:r>
            <a:endParaRPr lang="en-US" sz="1400" dirty="0"/>
          </a:p>
        </p:txBody>
      </p:sp>
      <p:sp>
        <p:nvSpPr>
          <p:cNvPr id="10" name="Stat card"/>
          <p:cNvSpPr/>
          <p:nvPr/>
        </p:nvSpPr>
        <p:spPr>
          <a:xfrm>
            <a:off x="8046720" y="169164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tx1"/>
          </a:solidFill>
          <a:ln w="12700">
            <a:solidFill>
              <a:schemeClr val="tx1">
                <a:alpha val="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B1F2A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046720" y="18745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2743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Numeric Fields</a:t>
            </a:r>
            <a:endParaRPr lang="en-US" sz="1400" dirty="0"/>
          </a:p>
        </p:txBody>
      </p:sp>
      <p:sp>
        <p:nvSpPr>
          <p:cNvPr id="13" name="Stat card"/>
          <p:cNvSpPr/>
          <p:nvPr/>
        </p:nvSpPr>
        <p:spPr>
          <a:xfrm>
            <a:off x="548640" y="347472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tx1"/>
          </a:solidFill>
          <a:ln w="12700">
            <a:solidFill>
              <a:schemeClr val="tx1">
                <a:alpha val="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B1F2A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48640" y="36576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526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Categorical Fields</a:t>
            </a:r>
            <a:endParaRPr lang="en-US" sz="1400" dirty="0"/>
          </a:p>
        </p:txBody>
      </p:sp>
      <p:sp>
        <p:nvSpPr>
          <p:cNvPr id="16" name="Stat card"/>
          <p:cNvSpPr/>
          <p:nvPr/>
        </p:nvSpPr>
        <p:spPr>
          <a:xfrm>
            <a:off x="4297680" y="347472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B1F2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297680" y="36576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4526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Columns with 99999</a:t>
            </a:r>
            <a:endParaRPr lang="en-US" sz="1400" dirty="0"/>
          </a:p>
        </p:txBody>
      </p:sp>
      <p:sp>
        <p:nvSpPr>
          <p:cNvPr id="19" name="Stat card"/>
          <p:cNvSpPr/>
          <p:nvPr/>
        </p:nvSpPr>
        <p:spPr>
          <a:xfrm>
            <a:off x="8046720" y="347472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B1F2A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046720" y="36576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2,929,965</a:t>
            </a:r>
            <a:endParaRPr lang="en-US" sz="44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4526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Missing Values After Cleanup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The data covers 1,623 agencies across 11 profile years and 6 states (IN, KY, MI, OH, PA, WV). The schema spans premium and loss amounts, retention and growth ratios, producer counts, and quote and bind activity from vendor systems.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5"/>
                </a:solidFill>
              </a:rPr>
              <a:t>KEY FINDING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The 99999 Sentinel Problem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Missing or not-applicable values are stored as the number 99999. The standard null check reports 0 missing values, while the true count after conversion is 2,929,965.</a:t>
            </a:r>
            <a:endParaRPr lang="en-US" sz="1600" dirty="0"/>
          </a:p>
        </p:txBody>
      </p:sp>
      <p:sp>
        <p:nvSpPr>
          <p:cNvPr id="5" name="Where panel"/>
          <p:cNvSpPr/>
          <p:nvPr/>
        </p:nvSpPr>
        <p:spPr>
          <a:xfrm>
            <a:off x="548640" y="2468880"/>
            <a:ext cx="6675120" cy="3657600"/>
          </a:xfrm>
          <a:prstGeom prst="roundRect">
            <a:avLst>
              <a:gd name="adj" fmla="val 3000"/>
            </a:avLst>
          </a:prstGeom>
          <a:solidFill>
            <a:schemeClr val="bg1">
              <a:alpha val="9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69748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appears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00400"/>
            <a:ext cx="6035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Period fields: ACTIVITY_NOTES_END_YEAR (209,258 rows), PL_END_YEAR (209,174), COMMISIONS_END_YEAR (205,604)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Ratios: RETENTION_RATIO (129,978), GROWTH_RATE_3YR (91,067), LOSS_RATIO (51,232)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Vendor counts: 6 CL_* columns (98,689 each) and 10 PL_* columns (57,444 each)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Identifiers and agency fields: PRIMARY_AGENCY_ID (37,874), MAX_AGE and MIN_AGE (5,639)</a:t>
            </a:r>
            <a:endParaRPr lang="en-US" sz="1400" dirty="0"/>
          </a:p>
        </p:txBody>
      </p:sp>
      <p:sp>
        <p:nvSpPr>
          <p:cNvPr id="8" name="Why panel"/>
          <p:cNvSpPr/>
          <p:nvPr/>
        </p:nvSpPr>
        <p:spPr>
          <a:xfrm>
            <a:off x="7452360" y="2468880"/>
            <a:ext cx="4187952" cy="3657600"/>
          </a:xfrm>
          <a:prstGeom prst="roundRect">
            <a:avLst>
              <a:gd name="adj" fmla="val 3000"/>
            </a:avLst>
          </a:prstGeom>
          <a:solidFill>
            <a:schemeClr val="accent3"/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0" y="2697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320040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Averages and totals computed before cleanup are badly wrong, since 99999 dwarfs real values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Null checks show 0 missing values until 99999 is replaced, so the true gaps stay hidden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Year fields such as PL_START_YEAR would produce nonsensical date ranges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</a:rPr>
              <a:t>MISSING VALUE ANALYSIS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Where the Gaps Are Concentrated</a:t>
            </a:r>
            <a:endParaRPr lang="en-US" sz="3400" dirty="0"/>
          </a:p>
        </p:txBody>
      </p:sp>
      <p:sp>
        <p:nvSpPr>
          <p:cNvPr id="4" name="Chart card"/>
          <p:cNvSpPr/>
          <p:nvPr/>
        </p:nvSpPr>
        <p:spPr>
          <a:xfrm>
            <a:off x="548640" y="1645920"/>
            <a:ext cx="7223760" cy="36576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B1F2A">
                <a:alpha val="12000"/>
              </a:srgbClr>
            </a:outerShdw>
          </a:effectLst>
        </p:spPr>
      </p:sp>
      <p:pic>
        <p:nvPicPr>
          <p:cNvPr id="5" name="Image 0" descr="Bar chart of missing percentage by column after 99999 replaced with N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10512"/>
            <a:ext cx="6858000" cy="34015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4864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Period-end fields and vendor activity counts dominate the gaps. Identity, premium and product fields are fully populated.</a:t>
            </a:r>
            <a:endParaRPr lang="en-US" sz="1400" dirty="0"/>
          </a:p>
        </p:txBody>
      </p:sp>
      <p:sp>
        <p:nvSpPr>
          <p:cNvPr id="7" name="Risk card"/>
          <p:cNvSpPr/>
          <p:nvPr/>
        </p:nvSpPr>
        <p:spPr>
          <a:xfrm>
            <a:off x="8046720" y="1645920"/>
            <a:ext cx="3593592" cy="3657600"/>
          </a:xfrm>
          <a:prstGeom prst="roundRect">
            <a:avLst>
              <a:gd name="adj" fmla="val 3053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B1F2A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32104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risk fields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ACTIVITY_NOTES_END_YEAR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0607040" y="23774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98.1%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32104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PL_END_YEAR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0607040" y="28346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98.1%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COMMISIONS_END_YEAR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607040" y="32918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96.4%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32104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CL_END_YEAR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0607040" y="37490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96.0%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4206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RETENTION_RATIO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607040" y="4206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60.9%</a:t>
            </a:r>
            <a:endParaRPr lang="en-US" sz="1600" dirty="0"/>
          </a:p>
        </p:txBody>
      </p:sp>
      <p:sp>
        <p:nvSpPr>
          <p:cNvPr id="19" name="Callout"/>
          <p:cNvSpPr/>
          <p:nvPr/>
        </p:nvSpPr>
        <p:spPr>
          <a:xfrm>
            <a:off x="8321040" y="4663440"/>
            <a:ext cx="3044952" cy="502920"/>
          </a:xfrm>
          <a:prstGeom prst="roundRect">
            <a:avLst>
              <a:gd name="adj" fmla="val 21818"/>
            </a:avLst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321040" y="4663440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16 columns exceed 30% missing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046720" y="5486400"/>
            <a:ext cx="3593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Missing % computed after converting 99999 to NaN.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</a:rPr>
              <a:t>MISSING VALUE ANALYSIS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 Structural, Not Random, Pattern</a:t>
            </a:r>
            <a:endParaRPr lang="en-US" sz="3400" dirty="0"/>
          </a:p>
        </p:txBody>
      </p:sp>
      <p:sp>
        <p:nvSpPr>
          <p:cNvPr id="4" name="Chart card"/>
          <p:cNvSpPr/>
          <p:nvPr/>
        </p:nvSpPr>
        <p:spPr>
          <a:xfrm>
            <a:off x="548640" y="1645920"/>
            <a:ext cx="7955280" cy="4434840"/>
          </a:xfrm>
          <a:prstGeom prst="roundRect">
            <a:avLst>
              <a:gd name="adj" fmla="val 2474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B1F2A">
                <a:alpha val="12000"/>
              </a:srgbClr>
            </a:outerShdw>
          </a:effectLst>
        </p:spPr>
      </p:sp>
      <p:pic>
        <p:nvPicPr>
          <p:cNvPr id="5" name="Image 0" descr="Missing value heatmap: light cells mark missing values, concentrated in vendor and commission-period colum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10512"/>
            <a:ext cx="7589520" cy="3765950"/>
          </a:xfrm>
          <a:prstGeom prst="rect">
            <a:avLst/>
          </a:prstGeom>
        </p:spPr>
      </p:pic>
      <p:sp>
        <p:nvSpPr>
          <p:cNvPr id="6" name="Insight card"/>
          <p:cNvSpPr/>
          <p:nvPr/>
        </p:nvSpPr>
        <p:spPr>
          <a:xfrm>
            <a:off x="8778240" y="1645920"/>
            <a:ext cx="2862072" cy="4434840"/>
          </a:xfrm>
          <a:prstGeom prst="roundRect">
            <a:avLst>
              <a:gd name="adj" fmla="val 3834"/>
            </a:avLst>
          </a:prstGeom>
          <a:solidFill>
            <a:schemeClr val="tx1"/>
          </a:solidFill>
          <a:ln w="12700">
            <a:solidFill>
              <a:schemeClr val="tx1">
                <a:alpha val="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B1F2A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05256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it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9052560" y="2514600"/>
            <a:ext cx="2377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Light cells are missing values. The gaps cluster by column group: period fields and vendor activity counts are empty together, rather than scattered at random.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</a:rPr>
              <a:t>DATA INTEGRITY CHECKS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Duplicates, Negatives and Zero Values</a:t>
            </a:r>
            <a:endParaRPr lang="en-US" sz="3400" dirty="0"/>
          </a:p>
        </p:txBody>
      </p:sp>
      <p:sp>
        <p:nvSpPr>
          <p:cNvPr id="4" name="Check card"/>
          <p:cNvSpPr/>
          <p:nvPr/>
        </p:nvSpPr>
        <p:spPr>
          <a:xfrm>
            <a:off x="548640" y="1691640"/>
            <a:ext cx="3566160" cy="44348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B1F2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records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Full-row duplicate check after sentinel cleanup.</a:t>
            </a:r>
            <a:endParaRPr lang="en-US" sz="1400" dirty="0"/>
          </a:p>
        </p:txBody>
      </p:sp>
      <p:sp>
        <p:nvSpPr>
          <p:cNvPr id="7" name="Stat"/>
          <p:cNvSpPr/>
          <p:nvPr/>
        </p:nvSpPr>
        <p:spPr>
          <a:xfrm>
            <a:off x="822960" y="3154680"/>
            <a:ext cx="3017520" cy="1005840"/>
          </a:xfrm>
          <a:prstGeom prst="roundRect">
            <a:avLst>
              <a:gd name="adj" fmla="val 10909"/>
            </a:avLst>
          </a:prstGeom>
          <a:solidFill>
            <a:schemeClr val="tx1"/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1546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 (0.0%)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38912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 duplicates found across 213,328 rows, so no records need removal.</a:t>
            </a:r>
            <a:endParaRPr lang="en-US" sz="1400" dirty="0"/>
          </a:p>
        </p:txBody>
      </p:sp>
      <p:sp>
        <p:nvSpPr>
          <p:cNvPr id="10" name="Check card"/>
          <p:cNvSpPr/>
          <p:nvPr/>
        </p:nvSpPr>
        <p:spPr>
          <a:xfrm>
            <a:off x="4297680" y="1691640"/>
            <a:ext cx="3566160" cy="44348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B1F2A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72000" y="1920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WRTN_PREM_AMT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423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Rows with written premium below zero.</a:t>
            </a:r>
            <a:endParaRPr lang="en-US" sz="1400" dirty="0"/>
          </a:p>
        </p:txBody>
      </p:sp>
      <p:sp>
        <p:nvSpPr>
          <p:cNvPr id="13" name="Stat"/>
          <p:cNvSpPr/>
          <p:nvPr/>
        </p:nvSpPr>
        <p:spPr>
          <a:xfrm>
            <a:off x="4572000" y="3154680"/>
            <a:ext cx="3017520" cy="1005840"/>
          </a:xfrm>
          <a:prstGeom prst="roundRect">
            <a:avLst>
              <a:gd name="adj" fmla="val 10909"/>
            </a:avLst>
          </a:prstGeom>
          <a:solidFill>
            <a:schemeClr val="tx1"/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0" y="31546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4,796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438912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About 2.2% of rows, down to -$202,778. Likely refunds, cancellations or adjustments. Validate with the business.</a:t>
            </a:r>
            <a:endParaRPr lang="en-US" sz="1400" dirty="0"/>
          </a:p>
        </p:txBody>
      </p:sp>
      <p:sp>
        <p:nvSpPr>
          <p:cNvPr id="16" name="Check card"/>
          <p:cNvSpPr/>
          <p:nvPr/>
        </p:nvSpPr>
        <p:spPr>
          <a:xfrm>
            <a:off x="8046720" y="1691640"/>
            <a:ext cx="3566160" cy="44348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B1F2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321040" y="1920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Zero-heavy columns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423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Top numeric column by count of exact zeros.</a:t>
            </a:r>
            <a:endParaRPr lang="en-US" sz="1400" dirty="0"/>
          </a:p>
        </p:txBody>
      </p:sp>
      <p:sp>
        <p:nvSpPr>
          <p:cNvPr id="19" name="Stat"/>
          <p:cNvSpPr/>
          <p:nvPr/>
        </p:nvSpPr>
        <p:spPr>
          <a:xfrm>
            <a:off x="8321040" y="3154680"/>
            <a:ext cx="3017520" cy="1005840"/>
          </a:xfrm>
          <a:prstGeom prst="roundRect">
            <a:avLst>
              <a:gd name="adj" fmla="val 10909"/>
            </a:avLst>
          </a:prstGeom>
          <a:solidFill>
            <a:schemeClr val="tx1"/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31546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157,684</a:t>
            </a:r>
            <a:endParaRPr lang="en-US" sz="38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438912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PRD_INCRD_LOSSES_AMT (73.9% of rows). Next: PL_BOUND_CT_TRANSACTNOW 153,886 and PL_QUO_CT_TRANSACTNOW 151,070.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</a:rPr>
              <a:t>CATEGORICAL DATA CLEANING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Standardizing Text to Prevent Split Groups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188720"/>
                <a:gridCol w="651967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Before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After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Change after strip + upper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4A52"/>
                          </a:solidFill>
                        </a:rPr>
                        <a:t>PROD_ABBR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4A52"/>
                          </a:solidFill>
                        </a:rPr>
                        <a:t>20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4A52"/>
                          </a:solidFill>
                        </a:rPr>
                        <a:t>20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4A52"/>
                          </a:solidFill>
                        </a:rPr>
                        <a:t>None. Codes such as ANNIV and ANNIV 12 remain separate.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4A52"/>
                          </a:solidFill>
                        </a:rPr>
                        <a:t>PROD_LINE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4A52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4A52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4A52"/>
                          </a:solidFill>
                        </a:rPr>
                        <a:t>None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4A52"/>
                          </a:solidFill>
                        </a:rPr>
                        <a:t>STATE_ABBR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4A52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4A52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4A52"/>
                          </a:solidFill>
                        </a:rPr>
                        <a:t>None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4A52"/>
                          </a:solidFill>
                        </a:rPr>
                        <a:t>VENDOR_IND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4A52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4A52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4A52"/>
                          </a:solidFill>
                        </a:rPr>
                        <a:t>None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4A52"/>
                          </a:solidFill>
                        </a:rPr>
                        <a:t>VENDOR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4A52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4A52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4A52"/>
                          </a:solidFill>
                        </a:rPr>
                        <a:t>'Unknown' became 'UNKNOWN'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6634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Unique values shown are from the first 20 values printed per column. Cleaning with .str.strip() and .str.upper() changed only the VENDOR casing, so the categorical fields were already largely consistent.</a:t>
            </a:r>
            <a:endParaRPr lang="en-US" sz="1400" dirty="0"/>
          </a:p>
        </p:txBody>
      </p:sp>
      <p:sp>
        <p:nvSpPr>
          <p:cNvPr id="6" name="Callout"/>
          <p:cNvSpPr/>
          <p:nvPr/>
        </p:nvSpPr>
        <p:spPr>
          <a:xfrm>
            <a:off x="548640" y="5486400"/>
            <a:ext cx="11091672" cy="640080"/>
          </a:xfrm>
          <a:prstGeom prst="roundRect">
            <a:avLst>
              <a:gd name="adj" fmla="val 17143"/>
            </a:avLst>
          </a:prstGeom>
          <a:solidFill>
            <a:schemeClr val="accent2">
              <a:alpha val="30000"/>
            </a:schemeClr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Worth validating: MOTORHOM12 vs MOTORHOME and ANNIV vs ANNIV 12 may be distinct product codes or near-duplicates.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</a:rPr>
              <a:t>NUMERIC DISTRIBUTION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Written Premium Is Heavily Right-Skewed</a:t>
            </a:r>
            <a:endParaRPr lang="en-US" sz="3400" dirty="0"/>
          </a:p>
        </p:txBody>
      </p:sp>
      <p:sp>
        <p:nvSpPr>
          <p:cNvPr id="4" name="Histogram card"/>
          <p:cNvSpPr/>
          <p:nvPr/>
        </p:nvSpPr>
        <p:spPr>
          <a:xfrm>
            <a:off x="548640" y="1600200"/>
            <a:ext cx="5394960" cy="333756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B1F2A">
                <a:alpha val="12000"/>
              </a:srgbClr>
            </a:outerShdw>
          </a:effectLst>
        </p:spPr>
      </p:sp>
      <p:pic>
        <p:nvPicPr>
          <p:cNvPr id="5" name="Image 0" descr="Histogram of WRTN_PREM_AMT showing heavy right sk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37360"/>
            <a:ext cx="4937760" cy="2946158"/>
          </a:xfrm>
          <a:prstGeom prst="rect">
            <a:avLst/>
          </a:prstGeom>
        </p:spPr>
      </p:pic>
      <p:sp>
        <p:nvSpPr>
          <p:cNvPr id="6" name="Boxplot card"/>
          <p:cNvSpPr/>
          <p:nvPr/>
        </p:nvSpPr>
        <p:spPr>
          <a:xfrm>
            <a:off x="6172200" y="1600200"/>
            <a:ext cx="5468112" cy="333756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B1F2A">
                <a:alpha val="12000"/>
              </a:srgbClr>
            </a:outerShdw>
          </a:effectLst>
        </p:spPr>
      </p:sp>
      <p:pic>
        <p:nvPicPr>
          <p:cNvPr id="7" name="Image 1" descr="Boxplot of WRTN_PREM_AMT with many high outli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737360"/>
            <a:ext cx="5102352" cy="201833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355080" y="3977640"/>
            <a:ext cx="5102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The box is squeezed near zero while outliers stretch to about $1.7M.</a:t>
            </a:r>
            <a:endParaRPr lang="en-US" sz="1400" dirty="0"/>
          </a:p>
        </p:txBody>
      </p:sp>
      <p:sp>
        <p:nvSpPr>
          <p:cNvPr id="9" name="Stat card"/>
          <p:cNvSpPr/>
          <p:nvPr/>
        </p:nvSpPr>
        <p:spPr>
          <a:xfrm>
            <a:off x="548640" y="5120640"/>
            <a:ext cx="2423160" cy="109728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>
                <a:alpha val="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B1F2A">
                <a:alpha val="12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548640" y="519379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$19.6K</a:t>
            </a:r>
            <a:endParaRPr lang="en-US" sz="32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7790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Mean written premium</a:t>
            </a:r>
            <a:endParaRPr lang="en-US" sz="1300" dirty="0"/>
          </a:p>
        </p:txBody>
      </p:sp>
      <p:sp>
        <p:nvSpPr>
          <p:cNvPr id="12" name="Stat card"/>
          <p:cNvSpPr/>
          <p:nvPr/>
        </p:nvSpPr>
        <p:spPr>
          <a:xfrm>
            <a:off x="3108960" y="5120640"/>
            <a:ext cx="2423160" cy="109728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>
                <a:alpha val="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B1F2A">
                <a:alpha val="12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3108960" y="519379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$1.1K</a:t>
            </a:r>
            <a:endParaRPr lang="en-US" sz="3200" dirty="0"/>
          </a:p>
        </p:txBody>
      </p:sp>
      <p:sp>
        <p:nvSpPr>
          <p:cNvPr id="14" name="Text 10"/>
          <p:cNvSpPr txBox="1"/>
          <p:nvPr/>
        </p:nvSpPr>
        <p:spPr>
          <a:xfrm>
            <a:off x="3108960" y="57790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Median written premium</a:t>
            </a:r>
            <a:endParaRPr lang="en-US" sz="1300" dirty="0"/>
          </a:p>
        </p:txBody>
      </p:sp>
      <p:sp>
        <p:nvSpPr>
          <p:cNvPr id="15" name="Insight"/>
          <p:cNvSpPr/>
          <p:nvPr/>
        </p:nvSpPr>
        <p:spPr>
          <a:xfrm>
            <a:off x="5760720" y="5120640"/>
            <a:ext cx="5879592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989320" y="5120640"/>
            <a:ext cx="5440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Mean is about 17x the median. Use medians, log scales or trimmed views. A simple mean is dominated by very large policies.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</a:rPr>
              <a:t>DATA DICTIONARY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Highest-Risk Columns by Missingness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2011680"/>
                <a:gridCol w="2651760"/>
                <a:gridCol w="1856232"/>
              </a:tblGrid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Raw dtype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Missing (99999) count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% Missing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F2A"/>
                          </a:solidFill>
                        </a:rPr>
                        <a:t>ACTIVITY_NOTES_END_YEAR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4A52"/>
                          </a:solidFill>
                        </a:rPr>
                        <a:t>int64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4A52"/>
                          </a:solidFill>
                        </a:rPr>
                        <a:t>209,258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E4572E"/>
                          </a:solidFill>
                        </a:rPr>
                        <a:t>98.09%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F2A"/>
                          </a:solidFill>
                        </a:rPr>
                        <a:t>PL_END_YEAR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4A52"/>
                          </a:solidFill>
                        </a:rPr>
                        <a:t>int64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4A52"/>
                          </a:solidFill>
                        </a:rPr>
                        <a:t>209,174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E4572E"/>
                          </a:solidFill>
                        </a:rPr>
                        <a:t>98.05%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F2A"/>
                          </a:solidFill>
                        </a:rPr>
                        <a:t>COMMISIONS_END_YEAR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4A52"/>
                          </a:solidFill>
                        </a:rPr>
                        <a:t>int64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4A52"/>
                          </a:solidFill>
                        </a:rPr>
                        <a:t>205,604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E4572E"/>
                          </a:solidFill>
                        </a:rPr>
                        <a:t>96.38%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F2A"/>
                          </a:solidFill>
                        </a:rPr>
                        <a:t>CL_END_YEAR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4A52"/>
                          </a:solidFill>
                        </a:rPr>
                        <a:t>int64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4A52"/>
                          </a:solidFill>
                        </a:rPr>
                        <a:t>204,760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E4572E"/>
                          </a:solidFill>
                        </a:rPr>
                        <a:t>95.98%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F2A"/>
                          </a:solidFill>
                        </a:rPr>
                        <a:t>ACTIVITY_NOTES_START_YEAR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4A52"/>
                          </a:solidFill>
                        </a:rPr>
                        <a:t>int64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4A52"/>
                          </a:solidFill>
                        </a:rPr>
                        <a:t>171,536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B86E00"/>
                          </a:solidFill>
                        </a:rPr>
                        <a:t>80.41%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F2A"/>
                          </a:solidFill>
                        </a:rPr>
                        <a:t>COMMISIONS_START_YEAR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4A52"/>
                          </a:solidFill>
                        </a:rPr>
                        <a:t>int64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4A52"/>
                          </a:solidFill>
                        </a:rPr>
                        <a:t>141,937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B86E00"/>
                          </a:solidFill>
                        </a:rPr>
                        <a:t>66.53%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F2A"/>
                          </a:solidFill>
                        </a:rPr>
                        <a:t>RETENTION_RATIO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4A52"/>
                          </a:solidFill>
                        </a:rPr>
                        <a:t>float64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4A52"/>
                          </a:solidFill>
                        </a:rPr>
                        <a:t>129,978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B86E00"/>
                          </a:solidFill>
                        </a:rPr>
                        <a:t>60.93%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F2A"/>
                          </a:solidFill>
                        </a:rPr>
                        <a:t>CL_START_YEAR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4A52"/>
                          </a:solidFill>
                        </a:rPr>
                        <a:t>int64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4A52"/>
                          </a:solidFill>
                        </a:rPr>
                        <a:t>129,311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B86E00"/>
                          </a:solidFill>
                        </a:rPr>
                        <a:t>60.62%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F2A"/>
                          </a:solidFill>
                        </a:rPr>
                        <a:t>GROWTH_RATE_3YR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4A52"/>
                          </a:solidFill>
                        </a:rPr>
                        <a:t>float64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4A52"/>
                          </a:solidFill>
                        </a:rPr>
                        <a:t>91,067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B86E00"/>
                          </a:solidFill>
                        </a:rPr>
                        <a:t>42.69%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F2A"/>
                          </a:solidFill>
                        </a:rPr>
                        <a:t>PRIMARY_AGENCY_ID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4A52"/>
                          </a:solidFill>
                        </a:rPr>
                        <a:t>int64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4A52"/>
                          </a:solidFill>
                        </a:rPr>
                        <a:t>37,874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B4A52"/>
                          </a:solidFill>
                        </a:rPr>
                        <a:t>17.75%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521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Raw counts show 0 nulls for every column. All figures here are true missingness after replacing 99999 with NaN. 16 of 49 columns exceed 30% missing.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</a:rPr>
              <a:t>RISK SUMMARY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Key Data Quality Risks</a:t>
            </a:r>
            <a:endParaRPr lang="en-US" sz="3400" dirty="0"/>
          </a:p>
        </p:txBody>
      </p:sp>
      <p:sp>
        <p:nvSpPr>
          <p:cNvPr id="4" name="Risk card"/>
          <p:cNvSpPr/>
          <p:nvPr/>
        </p:nvSpPr>
        <p:spPr>
          <a:xfrm>
            <a:off x="548640" y="1645920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B1F2A">
                <a:alpha val="12000"/>
              </a:srgbClr>
            </a:outerShdw>
          </a:effectLst>
        </p:spPr>
      </p:sp>
      <p:sp>
        <p:nvSpPr>
          <p:cNvPr id="5" name="Number badge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7830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 missing values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176272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36 of 49 columns use 99999. Null checks show 0 missing, but the true count is 2,929,965.</a:t>
            </a:r>
            <a:endParaRPr lang="en-US" sz="1400" dirty="0"/>
          </a:p>
        </p:txBody>
      </p:sp>
      <p:sp>
        <p:nvSpPr>
          <p:cNvPr id="9" name="Risk card"/>
          <p:cNvSpPr/>
          <p:nvPr/>
        </p:nvSpPr>
        <p:spPr>
          <a:xfrm>
            <a:off x="6199632" y="1645920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B1F2A">
                <a:alpha val="12000"/>
              </a:srgbClr>
            </a:outerShdw>
          </a:effectLst>
        </p:spPr>
      </p:sp>
      <p:sp>
        <p:nvSpPr>
          <p:cNvPr id="10" name="Number badge"/>
          <p:cNvSpPr/>
          <p:nvPr/>
        </p:nvSpPr>
        <p:spPr>
          <a:xfrm>
            <a:off x="6428232" y="201168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28232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17830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missing data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205472" y="2176272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16 columns exceed 30% missing. Period-end and vendor fields are empty together, by source.</a:t>
            </a:r>
            <a:endParaRPr lang="en-US" sz="1400" dirty="0"/>
          </a:p>
        </p:txBody>
      </p:sp>
      <p:sp>
        <p:nvSpPr>
          <p:cNvPr id="14" name="Risk card"/>
          <p:cNvSpPr/>
          <p:nvPr/>
        </p:nvSpPr>
        <p:spPr>
          <a:xfrm>
            <a:off x="548640" y="3172968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B1F2A">
                <a:alpha val="12000"/>
              </a:srgbClr>
            </a:outerShdw>
          </a:effectLst>
        </p:spPr>
      </p:sp>
      <p:sp>
        <p:nvSpPr>
          <p:cNvPr id="15" name="Number badge"/>
          <p:cNvSpPr/>
          <p:nvPr/>
        </p:nvSpPr>
        <p:spPr>
          <a:xfrm>
            <a:off x="777240" y="3538728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538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31012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records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70332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None found: 0 of 213,328 rows. Full-row duplicates should still be rechecked on each refresh.</a:t>
            </a:r>
            <a:endParaRPr lang="en-US" sz="1400" dirty="0"/>
          </a:p>
        </p:txBody>
      </p:sp>
      <p:sp>
        <p:nvSpPr>
          <p:cNvPr id="19" name="Risk card"/>
          <p:cNvSpPr/>
          <p:nvPr/>
        </p:nvSpPr>
        <p:spPr>
          <a:xfrm>
            <a:off x="6199632" y="3172968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B1F2A">
                <a:alpha val="12000"/>
              </a:srgbClr>
            </a:outerShdw>
          </a:effectLst>
        </p:spPr>
      </p:sp>
      <p:sp>
        <p:nvSpPr>
          <p:cNvPr id="20" name="Number badge"/>
          <p:cNvSpPr/>
          <p:nvPr/>
        </p:nvSpPr>
        <p:spPr>
          <a:xfrm>
            <a:off x="6428232" y="3538728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28232" y="3538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331012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Skewed and extreme values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205472" y="370332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Mean premium $19.6K vs median $1.1K. Outliers reach about $1.7M and distort averages.</a:t>
            </a:r>
            <a:endParaRPr lang="en-US" sz="1400" dirty="0"/>
          </a:p>
        </p:txBody>
      </p:sp>
      <p:sp>
        <p:nvSpPr>
          <p:cNvPr id="24" name="Risk card"/>
          <p:cNvSpPr/>
          <p:nvPr/>
        </p:nvSpPr>
        <p:spPr>
          <a:xfrm>
            <a:off x="548640" y="4700016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B1F2A">
                <a:alpha val="12000"/>
              </a:srgbClr>
            </a:outerShdw>
          </a:effectLst>
        </p:spPr>
      </p:sp>
      <p:sp>
        <p:nvSpPr>
          <p:cNvPr id="25" name="Number badge"/>
          <p:cNvSpPr/>
          <p:nvPr/>
        </p:nvSpPr>
        <p:spPr>
          <a:xfrm>
            <a:off x="777240" y="5065776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50657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483717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premiums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5230368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4,796 rows (about 2.2%) are negative. May be refunds or adjustments. Confirm with the business.</a:t>
            </a:r>
            <a:endParaRPr lang="en-US" sz="1400" dirty="0"/>
          </a:p>
        </p:txBody>
      </p:sp>
      <p:sp>
        <p:nvSpPr>
          <p:cNvPr id="29" name="Risk card"/>
          <p:cNvSpPr/>
          <p:nvPr/>
        </p:nvSpPr>
        <p:spPr>
          <a:xfrm>
            <a:off x="6199632" y="4700016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>
                <a:alpha val="0"/>
              </a:schemeClr>
            </a:solidFill>
            <a:prstDash val="solid"/>
          </a:ln>
          <a:effectLst>
            <a:outerShdw sx="100000" sy="100000" kx="0" ky="0" algn="bl" rotWithShape="0" blurRad="127000" dist="38100" dir="5400000">
              <a:srgbClr val="0B1F2A">
                <a:alpha val="12000"/>
              </a:srgbClr>
            </a:outerShdw>
          </a:effectLst>
        </p:spPr>
      </p:sp>
      <p:sp>
        <p:nvSpPr>
          <p:cNvPr id="30" name="Number badge"/>
          <p:cNvSpPr/>
          <p:nvPr/>
        </p:nvSpPr>
        <p:spPr>
          <a:xfrm>
            <a:off x="6428232" y="5065776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28232" y="50657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205472" y="483717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Zero-heavy variables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7205472" y="5230368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PRD_INCRD_LOSSES_AMT is zero in 157,684 rows. Zero is often valid, not missing.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5"/>
                </a:solidFill>
              </a:rPr>
              <a:t>CONCLUSIONS &amp; NEXT STEPS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The Dataset Is Usable, With Guardrails</a:t>
            </a:r>
            <a:endParaRPr lang="en-US" sz="3400" dirty="0"/>
          </a:p>
        </p:txBody>
      </p:sp>
      <p:sp>
        <p:nvSpPr>
          <p:cNvPr id="4" name="Decor circle"/>
          <p:cNvSpPr/>
          <p:nvPr/>
        </p:nvSpPr>
        <p:spPr>
          <a:xfrm>
            <a:off x="9875520" y="-1463040"/>
            <a:ext cx="3840480" cy="384048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5" name="Marker"/>
          <p:cNvSpPr/>
          <p:nvPr/>
        </p:nvSpPr>
        <p:spPr>
          <a:xfrm>
            <a:off x="548640" y="1764792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69164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Schema was validated, not assumed: 49 columns profiled across 213,328 rows.</a:t>
            </a:r>
            <a:endParaRPr lang="en-US" sz="1600" dirty="0"/>
          </a:p>
        </p:txBody>
      </p:sp>
      <p:sp>
        <p:nvSpPr>
          <p:cNvPr id="7" name="Marker"/>
          <p:cNvSpPr/>
          <p:nvPr/>
        </p:nvSpPr>
        <p:spPr>
          <a:xfrm>
            <a:off x="548640" y="2843784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770632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The 99999 sentinel was the most consequential finding: 36 columns, and 2,929,965 hidden missing values.</a:t>
            </a:r>
            <a:endParaRPr lang="en-US" sz="1600" dirty="0"/>
          </a:p>
        </p:txBody>
      </p:sp>
      <p:sp>
        <p:nvSpPr>
          <p:cNvPr id="9" name="Marker"/>
          <p:cNvSpPr/>
          <p:nvPr/>
        </p:nvSpPr>
        <p:spPr>
          <a:xfrm>
            <a:off x="548640" y="3922776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3849624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No duplicates were found, and categorical text was standardized (only VENDOR casing changed).</a:t>
            </a:r>
            <a:endParaRPr lang="en-US" sz="1600" dirty="0"/>
          </a:p>
        </p:txBody>
      </p:sp>
      <p:sp>
        <p:nvSpPr>
          <p:cNvPr id="11" name="Marker"/>
          <p:cNvSpPr/>
          <p:nvPr/>
        </p:nvSpPr>
        <p:spPr>
          <a:xfrm>
            <a:off x="548640" y="500176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4928616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16 columns exceed 30% missing, led by period-end and vendor fields.</a:t>
            </a:r>
            <a:endParaRPr lang="en-US" sz="1600" dirty="0"/>
          </a:p>
        </p:txBody>
      </p:sp>
      <p:sp>
        <p:nvSpPr>
          <p:cNvPr id="13" name="Next steps panel"/>
          <p:cNvSpPr/>
          <p:nvPr/>
        </p:nvSpPr>
        <p:spPr>
          <a:xfrm>
            <a:off x="6400800" y="1691640"/>
            <a:ext cx="5239512" cy="4389120"/>
          </a:xfrm>
          <a:prstGeom prst="roundRect">
            <a:avLst>
              <a:gd name="adj" fmla="val 2500"/>
            </a:avLst>
          </a:prstGeom>
          <a:solidFill>
            <a:schemeClr val="bg1">
              <a:alpha val="9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20840" y="1920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next steps</a:t>
            </a:r>
            <a:endParaRPr lang="en-US" sz="2000" dirty="0"/>
          </a:p>
        </p:txBody>
      </p:sp>
      <p:sp>
        <p:nvSpPr>
          <p:cNvPr id="15" name="Number badge"/>
          <p:cNvSpPr/>
          <p:nvPr/>
        </p:nvSpPr>
        <p:spPr>
          <a:xfrm>
            <a:off x="6720840" y="25603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208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251460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Set an impute-vs-drop policy for columns above the 30% missing threshold</a:t>
            </a:r>
            <a:endParaRPr lang="en-US" sz="1500" dirty="0"/>
          </a:p>
        </p:txBody>
      </p:sp>
      <p:sp>
        <p:nvSpPr>
          <p:cNvPr id="18" name="Number badge"/>
          <p:cNvSpPr/>
          <p:nvPr/>
        </p:nvSpPr>
        <p:spPr>
          <a:xfrm>
            <a:off x="6720840" y="373075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20840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360920" y="3685032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Validate negative premiums and zero-heavy fields with business stakeholders</a:t>
            </a:r>
            <a:endParaRPr lang="en-US" sz="1500" dirty="0"/>
          </a:p>
        </p:txBody>
      </p:sp>
      <p:sp>
        <p:nvSpPr>
          <p:cNvPr id="21" name="Number badge"/>
          <p:cNvSpPr/>
          <p:nvPr/>
        </p:nvSpPr>
        <p:spPr>
          <a:xfrm>
            <a:off x="6720840" y="4901184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20840" y="4901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360920" y="4855464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Review the product codes ANNIV vs ANNIV 12 and MOTORHOM12 vs MOTORHOME before grouping by product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k and Teal">
  <a:themeElements>
    <a:clrScheme name="Ink and Teal">
      <a:dk1>
        <a:srgbClr val="0B1F2A"/>
      </a:dk1>
      <a:lt1>
        <a:srgbClr val="FFFFFF"/>
      </a:lt1>
      <a:dk2>
        <a:srgbClr val="1B4A52"/>
      </a:dk2>
      <a:lt2>
        <a:srgbClr val="EEF5F4"/>
      </a:lt2>
      <a:accent1>
        <a:srgbClr val="12A8A0"/>
      </a:accent1>
      <a:accent2>
        <a:srgbClr val="F2A33A"/>
      </a:accent2>
      <a:accent3>
        <a:srgbClr val="E4572E"/>
      </a:accent3>
      <a:accent4>
        <a:srgbClr val="5B7C99"/>
      </a:accent4>
      <a:accent5>
        <a:srgbClr val="7FD1C7"/>
      </a:accent5>
      <a:accent6>
        <a:srgbClr val="8A9BA8"/>
      </a:accent6>
      <a:hlink>
        <a:srgbClr val="12A8A0"/>
      </a:hlink>
      <a:folHlink>
        <a:srgbClr val="5B7C99"/>
      </a:folHlink>
    </a:clrScheme>
    <a:fontScheme name="Ink and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Profiling &amp; Quality Assessment</dc:title>
  <dc:subject>PptxGenJS Presentation</dc:subject>
  <dc:creator>Kota Amulya Reddy</dc:creator>
  <cp:lastModifiedBy>Kota Amulya Reddy</cp:lastModifiedBy>
  <cp:revision>1</cp:revision>
  <dcterms:created xsi:type="dcterms:W3CDTF">2026-10-05T17:08:40Z</dcterms:created>
  <dcterms:modified xsi:type="dcterms:W3CDTF">2026-10-05T17:08:40Z</dcterms:modified>
</cp:coreProperties>
</file>